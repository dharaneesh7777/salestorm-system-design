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Problem: limited-stock flash sale, simultaneous demand, failures in payment and services. Business question: how do we avoid overselling while keeping payment and order processing reliable?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Functional: reserve, pay, order, ship, notify. NFR: strict guarantees vs targets. Assumptions: 10k req/s normal, up to 500k req/s peak, 5 minute reservation TTL.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 Traffic path: CDN/WAF, load balancer, API gateway, services. Redis for gate and idempotency. MySQL per service. Kafka with outbox for events. Sync REST only where an immediate answer is needed. Async for confirmation, shipment, notification.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 Walk the request: idempotency check, Redis atomic decrement, MySQL transaction with conditional update. Consistency is guaranteed in the MySQL inventory row. Compared pessimistic, optimistic, conditional update, Redis gate plus conditional update; selected the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 Success: payment SUCCEEDED, reservation CONFIRMED, order CONFIRMED, reservation SOLD. Failure: decline is final, reservation RELEASED. Timeout: unknown is not failed; reconcile. Order service down: events wait in Kafka, watchdog resends, ConfirmOrder is idempotent.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 Take the payment module as the example: PaymentService depends on PaymentGatewayFactory and PaymentGateway. Adapters per provider, resilient decorator adds timeout, retry and circuit breaker. New provider equals one new adapter class. State pattern for reservation and order; Strategy for pricing; Observer for order 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50x traffic is absorbed at CDN, gateway and Redis; payments and orders stay bounded by 100 units. Recovery: DB failover with idempotent retries, gateway circuit breaker with reconcilers. AI used only for documentation drafting; no code submitted; team validated all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822960"/>
            <a:ext cx="8046720" cy="82296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SALESTORM</a:t>
            </a:r>
            <a:endParaRPr lang="en-US" sz="4800" dirty="0"/>
          </a:p>
        </p:txBody>
      </p:sp>
      <p:sp>
        <p:nvSpPr>
          <p:cNvPr id="3" name="Text 1"/>
          <p:cNvSpPr txBox="1"/>
          <p:nvPr/>
        </p:nvSpPr>
        <p:spPr>
          <a:xfrm>
            <a:off x="548640" y="1645920"/>
            <a:ext cx="8046720" cy="548640"/>
          </a:xfrm>
          <a:prstGeom prst="rect">
            <a:avLst/>
          </a:prstGeom>
          <a:noFill/>
          <a:ln/>
        </p:spPr>
        <p:txBody>
          <a:bodyPr wrap="square" lIns="0" tIns="0" rIns="0" bIns="0" rtlCol="0" anchor="ctr"/>
          <a:lstStyle/>
          <a:p>
            <a:pPr indent="0" marL="0">
              <a:buNone/>
            </a:pPr>
            <a:r>
              <a:rPr lang="en-US" sz="2200" dirty="0">
                <a:solidFill>
                  <a:srgbClr val="F28C28"/>
                </a:solidFill>
                <a:latin typeface="Calibri" pitchFamily="34" charset="0"/>
                <a:ea typeface="Calibri" pitchFamily="34" charset="-122"/>
                <a:cs typeface="Calibri" pitchFamily="34" charset="-120"/>
              </a:rPr>
              <a:t>Flash-sale architecture: 10,000 buyers, 100 units, zero oversell</a:t>
            </a:r>
            <a:endParaRPr lang="en-US" sz="2200" dirty="0"/>
          </a:p>
        </p:txBody>
      </p:sp>
      <p:sp>
        <p:nvSpPr>
          <p:cNvPr id="4" name="Text 2"/>
          <p:cNvSpPr txBox="1"/>
          <p:nvPr/>
        </p:nvSpPr>
        <p:spPr>
          <a:xfrm>
            <a:off x="548640" y="2651760"/>
            <a:ext cx="8046720" cy="1645920"/>
          </a:xfrm>
          <a:prstGeom prst="rect">
            <a:avLst/>
          </a:prstGeom>
          <a:noFill/>
          <a:ln/>
        </p:spPr>
        <p:txBody>
          <a:bodyPr wrap="square" lIns="0" tIns="0" rIns="0" bIns="0" rtlCol="0" anchor="t"/>
          <a:lstStyle/>
          <a:p>
            <a:pPr indent="0" marL="0">
              <a:spcAft>
                <a:spcPts val="800"/>
              </a:spcAft>
              <a:buNone/>
            </a:pPr>
            <a:r>
              <a:rPr lang="en-US" sz="1800" b="1" dirty="0">
                <a:solidFill>
                  <a:srgbClr val="FFFFFF"/>
                </a:solidFill>
                <a:latin typeface="Calibri" pitchFamily="34" charset="0"/>
                <a:ea typeface="Calibri" pitchFamily="34" charset="-122"/>
                <a:cs typeface="Calibri" pitchFamily="34" charset="-120"/>
              </a:rPr>
              <a:t>Problem (30 s)</a:t>
            </a:r>
            <a:endParaRPr lang="en-US" sz="1800" dirty="0"/>
          </a:p>
          <a:p>
            <a:pPr marL="342900" indent="-342900">
              <a:spcAft>
                <a:spcPts val="800"/>
              </a:spcAft>
              <a:buSzPct val="100000"/>
              <a:buChar char="•"/>
            </a:pPr>
            <a:r>
              <a:rPr lang="en-US" sz="1800" dirty="0">
                <a:solidFill>
                  <a:srgbClr val="D8DEE9"/>
                </a:solidFill>
                <a:latin typeface="Calibri" pitchFamily="34" charset="0"/>
                <a:ea typeface="Calibri" pitchFamily="34" charset="-122"/>
                <a:cs typeface="Calibri" pitchFamily="34" charset="-120"/>
              </a:rPr>
              <a:t>Thousands click Buy Now at once for limited stock.</a:t>
            </a:r>
            <a:endParaRPr lang="en-US" sz="1800" dirty="0"/>
          </a:p>
          <a:p>
            <a:pPr marL="342900" indent="-342900">
              <a:spcAft>
                <a:spcPts val="800"/>
              </a:spcAft>
              <a:buSzPct val="100000"/>
              <a:buChar char="•"/>
            </a:pPr>
            <a:r>
              <a:rPr lang="en-US" sz="1800" dirty="0">
                <a:solidFill>
                  <a:srgbClr val="D8DEE9"/>
                </a:solidFill>
                <a:latin typeface="Calibri" pitchFamily="34" charset="0"/>
                <a:ea typeface="Calibri" pitchFamily="34" charset="-122"/>
                <a:cs typeface="Calibri" pitchFamily="34" charset="-120"/>
              </a:rPr>
              <a:t>Payments and services can be slow or fail.</a:t>
            </a:r>
            <a:endParaRPr lang="en-US" sz="1800" dirty="0"/>
          </a:p>
          <a:p>
            <a:pPr marL="342900" indent="-342900">
              <a:spcAft>
                <a:spcPts val="800"/>
              </a:spcAft>
              <a:buSzPct val="100000"/>
              <a:buChar char="•"/>
            </a:pPr>
            <a:r>
              <a:rPr lang="en-US" sz="1800" dirty="0">
                <a:solidFill>
                  <a:srgbClr val="D8DEE9"/>
                </a:solidFill>
                <a:latin typeface="Calibri" pitchFamily="34" charset="0"/>
                <a:ea typeface="Calibri" pitchFamily="34" charset="-122"/>
                <a:cs typeface="Calibri" pitchFamily="34" charset="-120"/>
              </a:rPr>
              <a:t>Business needs correct inventory, safe payments, a valid order lifecycle.</a:t>
            </a:r>
            <a:endParaRPr lang="en-US" sz="1800" dirty="0"/>
          </a:p>
        </p:txBody>
      </p:sp>
      <p:sp>
        <p:nvSpPr>
          <p:cNvPr id="5" name="Text 3"/>
          <p:cNvSpPr txBox="1"/>
          <p:nvPr/>
        </p:nvSpPr>
        <p:spPr>
          <a:xfrm>
            <a:off x="548640" y="4572000"/>
            <a:ext cx="8046720" cy="320040"/>
          </a:xfrm>
          <a:prstGeom prst="rect">
            <a:avLst/>
          </a:prstGeom>
          <a:noFill/>
          <a:ln/>
        </p:spPr>
        <p:txBody>
          <a:bodyPr wrap="square" lIns="0" tIns="0" rIns="0" bIns="0" rtlCol="0" anchor="ctr"/>
          <a:lstStyle/>
          <a:p>
            <a:pPr indent="0" marL="0">
              <a:buNone/>
            </a:pPr>
            <a:r>
              <a:rPr lang="en-US" sz="1200" dirty="0">
                <a:solidFill>
                  <a:srgbClr val="9CA3AF"/>
                </a:solidFill>
                <a:latin typeface="Calibri" pitchFamily="34" charset="0"/>
                <a:ea typeface="Calibri" pitchFamily="34" charset="-122"/>
                <a:cs typeface="Calibri" pitchFamily="34" charset="-120"/>
              </a:rPr>
              <a:t>Team SALESTORM | SYSCRAFTERS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4213D"/>
          </a:solidFill>
          <a:ln/>
        </p:spPr>
      </p:sp>
      <p:sp>
        <p:nvSpPr>
          <p:cNvPr id="3" name="Text 1"/>
          <p:cNvSpPr txBox="1"/>
          <p:nvPr/>
        </p:nvSpPr>
        <p:spPr>
          <a:xfrm>
            <a:off x="457200" y="109728"/>
            <a:ext cx="6949440" cy="603504"/>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Requirements</a:t>
            </a:r>
            <a:endParaRPr lang="en-US" sz="2600" dirty="0"/>
          </a:p>
        </p:txBody>
      </p:sp>
      <p:sp>
        <p:nvSpPr>
          <p:cNvPr id="4" name="Text 2"/>
          <p:cNvSpPr txBox="1"/>
          <p:nvPr/>
        </p:nvSpPr>
        <p:spPr>
          <a:xfrm>
            <a:off x="7498080" y="109728"/>
            <a:ext cx="1280160" cy="603504"/>
          </a:xfrm>
          <a:prstGeom prst="rect">
            <a:avLst/>
          </a:prstGeom>
          <a:noFill/>
          <a:ln/>
        </p:spPr>
        <p:txBody>
          <a:bodyPr wrap="square" lIns="0" tIns="0" rIns="0" bIns="0" rtlCol="0" anchor="ctr"/>
          <a:lstStyle/>
          <a:p>
            <a:pPr algn="r" indent="0" marL="0">
              <a:buNone/>
            </a:pPr>
            <a:r>
              <a:rPr lang="en-US" sz="1400" b="1" dirty="0">
                <a:solidFill>
                  <a:srgbClr val="F28C28"/>
                </a:solidFill>
                <a:latin typeface="Calibri" pitchFamily="34" charset="0"/>
                <a:ea typeface="Calibri" pitchFamily="34" charset="-122"/>
                <a:cs typeface="Calibri" pitchFamily="34" charset="-120"/>
              </a:rPr>
              <a:t>30 sec</a:t>
            </a:r>
            <a:endParaRPr lang="en-US" sz="1400" dirty="0"/>
          </a:p>
        </p:txBody>
      </p:sp>
      <p:sp>
        <p:nvSpPr>
          <p:cNvPr id="6" name="Shape 3"/>
          <p:cNvSpPr/>
          <p:nvPr/>
        </p:nvSpPr>
        <p:spPr>
          <a:xfrm>
            <a:off x="457200" y="1097280"/>
            <a:ext cx="4023360" cy="3566160"/>
          </a:xfrm>
          <a:prstGeom prst="rect">
            <a:avLst/>
          </a:prstGeom>
          <a:solidFill>
            <a:srgbClr val="FFFFFF"/>
          </a:solidFill>
          <a:ln w="12700">
            <a:solidFill>
              <a:srgbClr val="D8DEE9"/>
            </a:solidFill>
            <a:prstDash val="solid"/>
          </a:ln>
        </p:spPr>
      </p:sp>
      <p:sp>
        <p:nvSpPr>
          <p:cNvPr id="7" name="Shape 4"/>
          <p:cNvSpPr/>
          <p:nvPr/>
        </p:nvSpPr>
        <p:spPr>
          <a:xfrm>
            <a:off x="457200" y="1097280"/>
            <a:ext cx="73152" cy="3566160"/>
          </a:xfrm>
          <a:prstGeom prst="rect">
            <a:avLst/>
          </a:prstGeom>
          <a:solidFill>
            <a:srgbClr val="14213D"/>
          </a:solidFill>
          <a:ln/>
        </p:spPr>
      </p:sp>
      <p:sp>
        <p:nvSpPr>
          <p:cNvPr id="8" name="Text 5"/>
          <p:cNvSpPr txBox="1"/>
          <p:nvPr/>
        </p:nvSpPr>
        <p:spPr>
          <a:xfrm>
            <a:off x="685800" y="1188720"/>
            <a:ext cx="3657600" cy="36576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Functional</a:t>
            </a:r>
            <a:endParaRPr lang="en-US" sz="1500" dirty="0"/>
          </a:p>
        </p:txBody>
      </p:sp>
      <p:sp>
        <p:nvSpPr>
          <p:cNvPr id="9" name="Text 6"/>
          <p:cNvSpPr txBox="1"/>
          <p:nvPr/>
        </p:nvSpPr>
        <p:spPr>
          <a:xfrm>
            <a:off x="685800" y="1554480"/>
            <a:ext cx="3657600" cy="301752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Browse sale and product</a:t>
            </a:r>
            <a:endParaRPr lang="en-US" sz="1250" dirty="0"/>
          </a:p>
          <a:p>
            <a:pPr indent="0" marL="0">
              <a:buNone/>
            </a:pPr>
            <a:r>
              <a:rPr lang="en-US" sz="1250" dirty="0">
                <a:solidFill>
                  <a:srgbClr val="1F2937"/>
                </a:solidFill>
                <a:latin typeface="Calibri" pitchFamily="34" charset="0"/>
                <a:ea typeface="Calibri" pitchFamily="34" charset="-122"/>
                <a:cs typeface="Calibri" pitchFamily="34" charset="-120"/>
              </a:rPr>
              <a:t>Buy Now with temporary reservation (5 min TTL)</a:t>
            </a:r>
            <a:endParaRPr lang="en-US" sz="1250" dirty="0"/>
          </a:p>
          <a:p>
            <a:pPr indent="0" marL="0">
              <a:buNone/>
            </a:pPr>
            <a:r>
              <a:rPr lang="en-US" sz="1250" dirty="0">
                <a:solidFill>
                  <a:srgbClr val="1F2937"/>
                </a:solidFill>
                <a:latin typeface="Calibri" pitchFamily="34" charset="0"/>
                <a:ea typeface="Calibri" pitchFamily="34" charset="-122"/>
                <a:cs typeface="Calibri" pitchFamily="34" charset="-120"/>
              </a:rPr>
              <a:t>Pay, create order, track delivery</a:t>
            </a:r>
            <a:endParaRPr lang="en-US" sz="1250" dirty="0"/>
          </a:p>
          <a:p>
            <a:pPr indent="0" marL="0">
              <a:buNone/>
            </a:pPr>
            <a:r>
              <a:rPr lang="en-US" sz="1250" dirty="0">
                <a:solidFill>
                  <a:srgbClr val="1F2937"/>
                </a:solidFill>
                <a:latin typeface="Calibri" pitchFamily="34" charset="0"/>
                <a:ea typeface="Calibri" pitchFamily="34" charset="-122"/>
                <a:cs typeface="Calibri" pitchFamily="34" charset="-120"/>
              </a:rPr>
              <a:t>Cancel and refund before shipping</a:t>
            </a:r>
            <a:endParaRPr lang="en-US" sz="1250" dirty="0"/>
          </a:p>
          <a:p>
            <a:pPr indent="0" marL="0">
              <a:buNone/>
            </a:pPr>
            <a:r>
              <a:rPr lang="en-US" sz="1250" dirty="0">
                <a:solidFill>
                  <a:srgbClr val="1F2937"/>
                </a:solidFill>
                <a:latin typeface="Calibri" pitchFamily="34" charset="0"/>
                <a:ea typeface="Calibri" pitchFamily="34" charset="-122"/>
                <a:cs typeface="Calibri" pitchFamily="34" charset="-120"/>
              </a:rPr>
              <a:t>Notifications for every key step</a:t>
            </a:r>
            <a:endParaRPr lang="en-US" sz="1250" dirty="0"/>
          </a:p>
        </p:txBody>
      </p:sp>
      <p:sp>
        <p:nvSpPr>
          <p:cNvPr id="10" name="Shape 7"/>
          <p:cNvSpPr/>
          <p:nvPr/>
        </p:nvSpPr>
        <p:spPr>
          <a:xfrm>
            <a:off x="4663440" y="1097280"/>
            <a:ext cx="4023360" cy="1691640"/>
          </a:xfrm>
          <a:prstGeom prst="rect">
            <a:avLst/>
          </a:prstGeom>
          <a:solidFill>
            <a:srgbClr val="FFFFFF"/>
          </a:solidFill>
          <a:ln w="12700">
            <a:solidFill>
              <a:srgbClr val="D8DEE9"/>
            </a:solidFill>
            <a:prstDash val="solid"/>
          </a:ln>
        </p:spPr>
      </p:sp>
      <p:sp>
        <p:nvSpPr>
          <p:cNvPr id="11" name="Shape 8"/>
          <p:cNvSpPr/>
          <p:nvPr/>
        </p:nvSpPr>
        <p:spPr>
          <a:xfrm>
            <a:off x="4663440" y="1097280"/>
            <a:ext cx="73152" cy="1691640"/>
          </a:xfrm>
          <a:prstGeom prst="rect">
            <a:avLst/>
          </a:prstGeom>
          <a:solidFill>
            <a:srgbClr val="F28C28"/>
          </a:solidFill>
          <a:ln/>
        </p:spPr>
      </p:sp>
      <p:sp>
        <p:nvSpPr>
          <p:cNvPr id="12" name="Text 9"/>
          <p:cNvSpPr txBox="1"/>
          <p:nvPr/>
        </p:nvSpPr>
        <p:spPr>
          <a:xfrm>
            <a:off x="4892040" y="1188720"/>
            <a:ext cx="3657600" cy="36576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Strict guarantees</a:t>
            </a:r>
            <a:endParaRPr lang="en-US" sz="1500" dirty="0"/>
          </a:p>
        </p:txBody>
      </p:sp>
      <p:sp>
        <p:nvSpPr>
          <p:cNvPr id="13" name="Text 10"/>
          <p:cNvSpPr txBox="1"/>
          <p:nvPr/>
        </p:nvSpPr>
        <p:spPr>
          <a:xfrm>
            <a:off x="4892040" y="1554480"/>
            <a:ext cx="3657600" cy="114300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Never more than 100 sold, never negative stock</a:t>
            </a:r>
            <a:endParaRPr lang="en-US" sz="1250" dirty="0"/>
          </a:p>
          <a:p>
            <a:pPr indent="0" marL="0">
              <a:buNone/>
            </a:pPr>
            <a:r>
              <a:rPr lang="en-US" sz="1250" dirty="0">
                <a:solidFill>
                  <a:srgbClr val="1F2937"/>
                </a:solidFill>
                <a:latin typeface="Calibri" pitchFamily="34" charset="0"/>
                <a:ea typeface="Calibri" pitchFamily="34" charset="-122"/>
                <a:cs typeface="Calibri" pitchFamily="34" charset="-120"/>
              </a:rPr>
              <a:t>One idempotency key = one reservation</a:t>
            </a:r>
            <a:endParaRPr lang="en-US" sz="1250" dirty="0"/>
          </a:p>
          <a:p>
            <a:pPr indent="0" marL="0">
              <a:buNone/>
            </a:pPr>
            <a:r>
              <a:rPr lang="en-US" sz="1250" dirty="0">
                <a:solidFill>
                  <a:srgbClr val="1F2937"/>
                </a:solidFill>
                <a:latin typeface="Calibri" pitchFamily="34" charset="0"/>
                <a:ea typeface="Calibri" pitchFamily="34" charset="-122"/>
                <a:cs typeface="Calibri" pitchFamily="34" charset="-120"/>
              </a:rPr>
              <a:t>No duplicate payment</a:t>
            </a:r>
            <a:endParaRPr lang="en-US" sz="1250" dirty="0"/>
          </a:p>
          <a:p>
            <a:pPr indent="0" marL="0">
              <a:buNone/>
            </a:pPr>
            <a:r>
              <a:rPr lang="en-US" sz="1250" dirty="0">
                <a:solidFill>
                  <a:srgbClr val="1F2937"/>
                </a:solidFill>
                <a:latin typeface="Calibri" pitchFamily="34" charset="0"/>
                <a:ea typeface="Calibri" pitchFamily="34" charset="-122"/>
                <a:cs typeface="Calibri" pitchFamily="34" charset="-120"/>
              </a:rPr>
              <a:t>Paid order ends CONFIRMED or refunded</a:t>
            </a:r>
            <a:endParaRPr lang="en-US" sz="1250" dirty="0"/>
          </a:p>
        </p:txBody>
      </p:sp>
      <p:sp>
        <p:nvSpPr>
          <p:cNvPr id="14" name="Shape 11"/>
          <p:cNvSpPr/>
          <p:nvPr/>
        </p:nvSpPr>
        <p:spPr>
          <a:xfrm>
            <a:off x="4663440" y="2971800"/>
            <a:ext cx="4023360" cy="1691640"/>
          </a:xfrm>
          <a:prstGeom prst="rect">
            <a:avLst/>
          </a:prstGeom>
          <a:solidFill>
            <a:srgbClr val="FFFFFF"/>
          </a:solidFill>
          <a:ln w="12700">
            <a:solidFill>
              <a:srgbClr val="D8DEE9"/>
            </a:solidFill>
            <a:prstDash val="solid"/>
          </a:ln>
        </p:spPr>
      </p:sp>
      <p:sp>
        <p:nvSpPr>
          <p:cNvPr id="15" name="Shape 12"/>
          <p:cNvSpPr/>
          <p:nvPr/>
        </p:nvSpPr>
        <p:spPr>
          <a:xfrm>
            <a:off x="4663440" y="2971800"/>
            <a:ext cx="73152" cy="1691640"/>
          </a:xfrm>
          <a:prstGeom prst="rect">
            <a:avLst/>
          </a:prstGeom>
          <a:solidFill>
            <a:srgbClr val="6B7280"/>
          </a:solidFill>
          <a:ln/>
        </p:spPr>
      </p:sp>
      <p:sp>
        <p:nvSpPr>
          <p:cNvPr id="16" name="Text 13"/>
          <p:cNvSpPr txBox="1"/>
          <p:nvPr/>
        </p:nvSpPr>
        <p:spPr>
          <a:xfrm>
            <a:off x="4892040" y="3063240"/>
            <a:ext cx="3657600" cy="36576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Targets</a:t>
            </a:r>
            <a:endParaRPr lang="en-US" sz="1500" dirty="0"/>
          </a:p>
        </p:txBody>
      </p:sp>
      <p:sp>
        <p:nvSpPr>
          <p:cNvPr id="17" name="Text 14"/>
          <p:cNvSpPr txBox="1"/>
          <p:nvPr/>
        </p:nvSpPr>
        <p:spPr>
          <a:xfrm>
            <a:off x="4892040" y="3429000"/>
            <a:ext cx="3657600" cy="114300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Sold-out reply under 50 ms</a:t>
            </a:r>
            <a:endParaRPr lang="en-US" sz="1250" dirty="0"/>
          </a:p>
          <a:p>
            <a:pPr indent="0" marL="0">
              <a:buNone/>
            </a:pPr>
            <a:r>
              <a:rPr lang="en-US" sz="1250" dirty="0">
                <a:solidFill>
                  <a:srgbClr val="1F2937"/>
                </a:solidFill>
                <a:latin typeface="Calibri" pitchFamily="34" charset="0"/>
                <a:ea typeface="Calibri" pitchFamily="34" charset="-122"/>
                <a:cs typeface="Calibri" pitchFamily="34" charset="-120"/>
              </a:rPr>
              <a:t>Order confirmed under 5 s (60 s in outage)</a:t>
            </a:r>
            <a:endParaRPr lang="en-US" sz="1250" dirty="0"/>
          </a:p>
          <a:p>
            <a:pPr indent="0" marL="0">
              <a:buNone/>
            </a:pPr>
            <a:r>
              <a:rPr lang="en-US" sz="1250" dirty="0">
                <a:solidFill>
                  <a:srgbClr val="1F2937"/>
                </a:solidFill>
                <a:latin typeface="Calibri" pitchFamily="34" charset="0"/>
                <a:ea typeface="Calibri" pitchFamily="34" charset="-122"/>
                <a:cs typeface="Calibri" pitchFamily="34" charset="-120"/>
              </a:rPr>
              <a:t>Expired holds released within 30 s</a:t>
            </a:r>
            <a:endParaRPr lang="en-US" sz="1250" dirty="0"/>
          </a:p>
          <a:p>
            <a:pPr indent="0" marL="0">
              <a:buNone/>
            </a:pPr>
            <a:r>
              <a:rPr lang="en-US" sz="1250" dirty="0">
                <a:solidFill>
                  <a:srgbClr val="1F2937"/>
                </a:solidFill>
                <a:latin typeface="Calibri" pitchFamily="34" charset="0"/>
                <a:ea typeface="Calibri" pitchFamily="34" charset="-122"/>
                <a:cs typeface="Calibri" pitchFamily="34" charset="-120"/>
              </a:rPr>
              <a:t>Peak up to 500,000 req/s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4213D"/>
          </a:solidFill>
          <a:ln/>
        </p:spPr>
      </p:sp>
      <p:sp>
        <p:nvSpPr>
          <p:cNvPr id="3" name="Text 1"/>
          <p:cNvSpPr txBox="1"/>
          <p:nvPr/>
        </p:nvSpPr>
        <p:spPr>
          <a:xfrm>
            <a:off x="457200" y="109728"/>
            <a:ext cx="6949440" cy="603504"/>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High-Level Architecture</a:t>
            </a:r>
            <a:endParaRPr lang="en-US" sz="2600" dirty="0"/>
          </a:p>
        </p:txBody>
      </p:sp>
      <p:sp>
        <p:nvSpPr>
          <p:cNvPr id="4" name="Text 2"/>
          <p:cNvSpPr txBox="1"/>
          <p:nvPr/>
        </p:nvSpPr>
        <p:spPr>
          <a:xfrm>
            <a:off x="7498080" y="109728"/>
            <a:ext cx="1280160" cy="603504"/>
          </a:xfrm>
          <a:prstGeom prst="rect">
            <a:avLst/>
          </a:prstGeom>
          <a:noFill/>
          <a:ln/>
        </p:spPr>
        <p:txBody>
          <a:bodyPr wrap="square" lIns="0" tIns="0" rIns="0" bIns="0" rtlCol="0" anchor="ctr"/>
          <a:lstStyle/>
          <a:p>
            <a:pPr algn="r" indent="0" marL="0">
              <a:buNone/>
            </a:pPr>
            <a:r>
              <a:rPr lang="en-US" sz="1400" b="1" dirty="0">
                <a:solidFill>
                  <a:srgbClr val="F28C28"/>
                </a:solidFill>
                <a:latin typeface="Calibri" pitchFamily="34" charset="0"/>
                <a:ea typeface="Calibri" pitchFamily="34" charset="-122"/>
                <a:cs typeface="Calibri" pitchFamily="34" charset="-120"/>
              </a:rPr>
              <a:t>60 sec</a:t>
            </a:r>
            <a:endParaRPr lang="en-US" sz="1400" dirty="0"/>
          </a:p>
        </p:txBody>
      </p:sp>
      <p:sp>
        <p:nvSpPr>
          <p:cNvPr id="6" name="Shape 3"/>
          <p:cNvSpPr/>
          <p:nvPr/>
        </p:nvSpPr>
        <p:spPr>
          <a:xfrm>
            <a:off x="457200" y="1097280"/>
            <a:ext cx="1417320" cy="731520"/>
          </a:xfrm>
          <a:prstGeom prst="rect">
            <a:avLst/>
          </a:prstGeom>
          <a:solidFill>
            <a:srgbClr val="14213D"/>
          </a:solidFill>
          <a:ln/>
        </p:spPr>
      </p:sp>
      <p:sp>
        <p:nvSpPr>
          <p:cNvPr id="7" name="Text 4"/>
          <p:cNvSpPr txBox="1"/>
          <p:nvPr/>
        </p:nvSpPr>
        <p:spPr>
          <a:xfrm>
            <a:off x="457200" y="1097280"/>
            <a:ext cx="1417320" cy="7315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CDN / WAF</a:t>
            </a:r>
            <a:endParaRPr lang="en-US" sz="1200" dirty="0"/>
          </a:p>
        </p:txBody>
      </p:sp>
      <p:sp>
        <p:nvSpPr>
          <p:cNvPr id="8" name="Shape 5"/>
          <p:cNvSpPr/>
          <p:nvPr/>
        </p:nvSpPr>
        <p:spPr>
          <a:xfrm>
            <a:off x="2011680" y="1097280"/>
            <a:ext cx="1417320" cy="731520"/>
          </a:xfrm>
          <a:prstGeom prst="rect">
            <a:avLst/>
          </a:prstGeom>
          <a:solidFill>
            <a:srgbClr val="14213D"/>
          </a:solidFill>
          <a:ln/>
        </p:spPr>
      </p:sp>
      <p:sp>
        <p:nvSpPr>
          <p:cNvPr id="9" name="Text 6"/>
          <p:cNvSpPr txBox="1"/>
          <p:nvPr/>
        </p:nvSpPr>
        <p:spPr>
          <a:xfrm>
            <a:off x="2011680" y="1097280"/>
            <a:ext cx="1417320" cy="7315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Load Balancer</a:t>
            </a:r>
            <a:endParaRPr lang="en-US" sz="1200" dirty="0"/>
          </a:p>
        </p:txBody>
      </p:sp>
      <p:sp>
        <p:nvSpPr>
          <p:cNvPr id="10" name="Shape 7"/>
          <p:cNvSpPr/>
          <p:nvPr/>
        </p:nvSpPr>
        <p:spPr>
          <a:xfrm>
            <a:off x="3566160" y="1097280"/>
            <a:ext cx="1417320" cy="731520"/>
          </a:xfrm>
          <a:prstGeom prst="rect">
            <a:avLst/>
          </a:prstGeom>
          <a:solidFill>
            <a:srgbClr val="14213D"/>
          </a:solidFill>
          <a:ln/>
        </p:spPr>
      </p:sp>
      <p:sp>
        <p:nvSpPr>
          <p:cNvPr id="11" name="Text 8"/>
          <p:cNvSpPr txBox="1"/>
          <p:nvPr/>
        </p:nvSpPr>
        <p:spPr>
          <a:xfrm>
            <a:off x="3566160" y="1097280"/>
            <a:ext cx="1417320" cy="7315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API Gateway</a:t>
            </a:r>
            <a:endParaRPr lang="en-US" sz="1200" dirty="0"/>
          </a:p>
        </p:txBody>
      </p:sp>
      <p:sp>
        <p:nvSpPr>
          <p:cNvPr id="12" name="Shape 9"/>
          <p:cNvSpPr/>
          <p:nvPr/>
        </p:nvSpPr>
        <p:spPr>
          <a:xfrm>
            <a:off x="5120640" y="1097280"/>
            <a:ext cx="1417320" cy="731520"/>
          </a:xfrm>
          <a:prstGeom prst="rect">
            <a:avLst/>
          </a:prstGeom>
          <a:solidFill>
            <a:srgbClr val="14213D"/>
          </a:solidFill>
          <a:ln/>
        </p:spPr>
      </p:sp>
      <p:sp>
        <p:nvSpPr>
          <p:cNvPr id="13" name="Text 10"/>
          <p:cNvSpPr txBox="1"/>
          <p:nvPr/>
        </p:nvSpPr>
        <p:spPr>
          <a:xfrm>
            <a:off x="5120640" y="1097280"/>
            <a:ext cx="1417320" cy="7315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Product / Cart / Sale</a:t>
            </a:r>
            <a:endParaRPr lang="en-US" sz="1200" dirty="0"/>
          </a:p>
        </p:txBody>
      </p:sp>
      <p:sp>
        <p:nvSpPr>
          <p:cNvPr id="14" name="Shape 11"/>
          <p:cNvSpPr/>
          <p:nvPr/>
        </p:nvSpPr>
        <p:spPr>
          <a:xfrm>
            <a:off x="6675120" y="1097280"/>
            <a:ext cx="1417320" cy="731520"/>
          </a:xfrm>
          <a:prstGeom prst="rect">
            <a:avLst/>
          </a:prstGeom>
          <a:solidFill>
            <a:srgbClr val="F28C28"/>
          </a:solidFill>
          <a:ln/>
        </p:spPr>
      </p:sp>
      <p:sp>
        <p:nvSpPr>
          <p:cNvPr id="15" name="Text 12"/>
          <p:cNvSpPr txBox="1"/>
          <p:nvPr/>
        </p:nvSpPr>
        <p:spPr>
          <a:xfrm>
            <a:off x="6675120" y="1097280"/>
            <a:ext cx="1417320" cy="7315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Inventory + Redis</a:t>
            </a:r>
            <a:endParaRPr lang="en-US" sz="1200" dirty="0"/>
          </a:p>
        </p:txBody>
      </p:sp>
      <p:sp>
        <p:nvSpPr>
          <p:cNvPr id="16" name="Shape 13"/>
          <p:cNvSpPr/>
          <p:nvPr/>
        </p:nvSpPr>
        <p:spPr>
          <a:xfrm>
            <a:off x="457200" y="2194560"/>
            <a:ext cx="1417320" cy="731520"/>
          </a:xfrm>
          <a:prstGeom prst="rect">
            <a:avLst/>
          </a:prstGeom>
          <a:solidFill>
            <a:srgbClr val="3B5B92"/>
          </a:solidFill>
          <a:ln/>
        </p:spPr>
      </p:sp>
      <p:sp>
        <p:nvSpPr>
          <p:cNvPr id="17" name="Text 14"/>
          <p:cNvSpPr txBox="1"/>
          <p:nvPr/>
        </p:nvSpPr>
        <p:spPr>
          <a:xfrm>
            <a:off x="457200" y="2194560"/>
            <a:ext cx="1417320" cy="7315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Checkout (saga)</a:t>
            </a:r>
            <a:endParaRPr lang="en-US" sz="1200" dirty="0"/>
          </a:p>
        </p:txBody>
      </p:sp>
      <p:sp>
        <p:nvSpPr>
          <p:cNvPr id="18" name="Shape 15"/>
          <p:cNvSpPr/>
          <p:nvPr/>
        </p:nvSpPr>
        <p:spPr>
          <a:xfrm>
            <a:off x="2011680" y="2194560"/>
            <a:ext cx="1417320" cy="731520"/>
          </a:xfrm>
          <a:prstGeom prst="rect">
            <a:avLst/>
          </a:prstGeom>
          <a:solidFill>
            <a:srgbClr val="3B5B92"/>
          </a:solidFill>
          <a:ln/>
        </p:spPr>
      </p:sp>
      <p:sp>
        <p:nvSpPr>
          <p:cNvPr id="19" name="Text 16"/>
          <p:cNvSpPr txBox="1"/>
          <p:nvPr/>
        </p:nvSpPr>
        <p:spPr>
          <a:xfrm>
            <a:off x="2011680" y="2194560"/>
            <a:ext cx="1417320" cy="7315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Payment</a:t>
            </a:r>
            <a:endParaRPr lang="en-US" sz="1200" dirty="0"/>
          </a:p>
        </p:txBody>
      </p:sp>
      <p:sp>
        <p:nvSpPr>
          <p:cNvPr id="20" name="Shape 17"/>
          <p:cNvSpPr/>
          <p:nvPr/>
        </p:nvSpPr>
        <p:spPr>
          <a:xfrm>
            <a:off x="3566160" y="2194560"/>
            <a:ext cx="1417320" cy="731520"/>
          </a:xfrm>
          <a:prstGeom prst="rect">
            <a:avLst/>
          </a:prstGeom>
          <a:solidFill>
            <a:srgbClr val="3B5B92"/>
          </a:solidFill>
          <a:ln/>
        </p:spPr>
      </p:sp>
      <p:sp>
        <p:nvSpPr>
          <p:cNvPr id="21" name="Text 18"/>
          <p:cNvSpPr txBox="1"/>
          <p:nvPr/>
        </p:nvSpPr>
        <p:spPr>
          <a:xfrm>
            <a:off x="3566160" y="2194560"/>
            <a:ext cx="1417320" cy="7315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Order</a:t>
            </a:r>
            <a:endParaRPr lang="en-US" sz="1200" dirty="0"/>
          </a:p>
        </p:txBody>
      </p:sp>
      <p:sp>
        <p:nvSpPr>
          <p:cNvPr id="22" name="Shape 19"/>
          <p:cNvSpPr/>
          <p:nvPr/>
        </p:nvSpPr>
        <p:spPr>
          <a:xfrm>
            <a:off x="5120640" y="2194560"/>
            <a:ext cx="1417320" cy="731520"/>
          </a:xfrm>
          <a:prstGeom prst="rect">
            <a:avLst/>
          </a:prstGeom>
          <a:solidFill>
            <a:srgbClr val="3B5B92"/>
          </a:solidFill>
          <a:ln/>
        </p:spPr>
      </p:sp>
      <p:sp>
        <p:nvSpPr>
          <p:cNvPr id="23" name="Text 20"/>
          <p:cNvSpPr txBox="1"/>
          <p:nvPr/>
        </p:nvSpPr>
        <p:spPr>
          <a:xfrm>
            <a:off x="5120640" y="2194560"/>
            <a:ext cx="1417320" cy="7315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Shipment</a:t>
            </a:r>
            <a:endParaRPr lang="en-US" sz="1200" dirty="0"/>
          </a:p>
        </p:txBody>
      </p:sp>
      <p:sp>
        <p:nvSpPr>
          <p:cNvPr id="24" name="Shape 21"/>
          <p:cNvSpPr/>
          <p:nvPr/>
        </p:nvSpPr>
        <p:spPr>
          <a:xfrm>
            <a:off x="6675120" y="2194560"/>
            <a:ext cx="1417320" cy="731520"/>
          </a:xfrm>
          <a:prstGeom prst="rect">
            <a:avLst/>
          </a:prstGeom>
          <a:solidFill>
            <a:srgbClr val="3B5B92"/>
          </a:solidFill>
          <a:ln/>
        </p:spPr>
      </p:sp>
      <p:sp>
        <p:nvSpPr>
          <p:cNvPr id="25" name="Text 22"/>
          <p:cNvSpPr txBox="1"/>
          <p:nvPr/>
        </p:nvSpPr>
        <p:spPr>
          <a:xfrm>
            <a:off x="6675120" y="2194560"/>
            <a:ext cx="1417320" cy="7315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Notification</a:t>
            </a:r>
            <a:endParaRPr lang="en-US" sz="1200" dirty="0"/>
          </a:p>
        </p:txBody>
      </p:sp>
      <p:sp>
        <p:nvSpPr>
          <p:cNvPr id="26" name="Shape 23"/>
          <p:cNvSpPr/>
          <p:nvPr/>
        </p:nvSpPr>
        <p:spPr>
          <a:xfrm>
            <a:off x="457200" y="3291840"/>
            <a:ext cx="8275320" cy="548640"/>
          </a:xfrm>
          <a:prstGeom prst="rect">
            <a:avLst/>
          </a:prstGeom>
          <a:solidFill>
            <a:srgbClr val="E5E9F2"/>
          </a:solidFill>
          <a:ln/>
        </p:spPr>
      </p:sp>
      <p:sp>
        <p:nvSpPr>
          <p:cNvPr id="27" name="Text 24"/>
          <p:cNvSpPr txBox="1"/>
          <p:nvPr/>
        </p:nvSpPr>
        <p:spPr>
          <a:xfrm>
            <a:off x="457200" y="3291840"/>
            <a:ext cx="8275320" cy="548640"/>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Kafka event backbone (outbox + idempotent consumers) | MySQL per service | Redis cluster</a:t>
            </a:r>
            <a:endParaRPr lang="en-US" sz="1300" dirty="0"/>
          </a:p>
        </p:txBody>
      </p:sp>
      <p:sp>
        <p:nvSpPr>
          <p:cNvPr id="28" name="Text 25"/>
          <p:cNvSpPr txBox="1"/>
          <p:nvPr/>
        </p:nvSpPr>
        <p:spPr>
          <a:xfrm>
            <a:off x="457200" y="4023360"/>
            <a:ext cx="8229600" cy="8229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F2937"/>
                </a:solidFill>
                <a:latin typeface="Calibri" pitchFamily="34" charset="0"/>
                <a:ea typeface="Calibri" pitchFamily="34" charset="-122"/>
                <a:cs typeface="Calibri" pitchFamily="34" charset="-120"/>
              </a:rPr>
              <a:t>Sync REST where the caller needs the answer now (reserve, initiate payment)</a:t>
            </a:r>
            <a:endParaRPr lang="en-US" sz="1400" dirty="0"/>
          </a:p>
          <a:p>
            <a:pPr marL="342900" indent="-342900">
              <a:spcAft>
                <a:spcPts val="800"/>
              </a:spcAft>
              <a:buSzPct val="100000"/>
              <a:buChar char="•"/>
            </a:pPr>
            <a:r>
              <a:rPr lang="en-US" sz="1400" dirty="0">
                <a:solidFill>
                  <a:srgbClr val="1F2937"/>
                </a:solidFill>
                <a:latin typeface="Calibri" pitchFamily="34" charset="0"/>
                <a:ea typeface="Calibri" pitchFamily="34" charset="-122"/>
                <a:cs typeface="Calibri" pitchFamily="34" charset="-120"/>
              </a:rPr>
              <a:t>Async events for confirmation, shipment, notification (eventual consistency)</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4213D"/>
          </a:solidFill>
          <a:ln/>
        </p:spPr>
      </p:sp>
      <p:sp>
        <p:nvSpPr>
          <p:cNvPr id="3" name="Text 1"/>
          <p:cNvSpPr txBox="1"/>
          <p:nvPr/>
        </p:nvSpPr>
        <p:spPr>
          <a:xfrm>
            <a:off x="457200" y="109728"/>
            <a:ext cx="6949440" cy="603504"/>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10,000 Buyers vs 100 Units</a:t>
            </a:r>
            <a:endParaRPr lang="en-US" sz="2600" dirty="0"/>
          </a:p>
        </p:txBody>
      </p:sp>
      <p:sp>
        <p:nvSpPr>
          <p:cNvPr id="4" name="Text 2"/>
          <p:cNvSpPr txBox="1"/>
          <p:nvPr/>
        </p:nvSpPr>
        <p:spPr>
          <a:xfrm>
            <a:off x="7498080" y="109728"/>
            <a:ext cx="1280160" cy="603504"/>
          </a:xfrm>
          <a:prstGeom prst="rect">
            <a:avLst/>
          </a:prstGeom>
          <a:noFill/>
          <a:ln/>
        </p:spPr>
        <p:txBody>
          <a:bodyPr wrap="square" lIns="0" tIns="0" rIns="0" bIns="0" rtlCol="0" anchor="ctr"/>
          <a:lstStyle/>
          <a:p>
            <a:pPr algn="r" indent="0" marL="0">
              <a:buNone/>
            </a:pPr>
            <a:r>
              <a:rPr lang="en-US" sz="1400" b="1" dirty="0">
                <a:solidFill>
                  <a:srgbClr val="F28C28"/>
                </a:solidFill>
                <a:latin typeface="Calibri" pitchFamily="34" charset="0"/>
                <a:ea typeface="Calibri" pitchFamily="34" charset="-122"/>
                <a:cs typeface="Calibri" pitchFamily="34" charset="-120"/>
              </a:rPr>
              <a:t>60 sec</a:t>
            </a:r>
            <a:endParaRPr lang="en-US" sz="1400" dirty="0"/>
          </a:p>
        </p:txBody>
      </p:sp>
      <p:sp>
        <p:nvSpPr>
          <p:cNvPr id="6" name="Shape 3"/>
          <p:cNvSpPr/>
          <p:nvPr/>
        </p:nvSpPr>
        <p:spPr>
          <a:xfrm>
            <a:off x="457200" y="1097280"/>
            <a:ext cx="1965960" cy="1920240"/>
          </a:xfrm>
          <a:prstGeom prst="rect">
            <a:avLst/>
          </a:prstGeom>
          <a:solidFill>
            <a:srgbClr val="FFFFFF"/>
          </a:solidFill>
          <a:ln w="12700">
            <a:solidFill>
              <a:srgbClr val="D8DEE9"/>
            </a:solidFill>
            <a:prstDash val="solid"/>
          </a:ln>
        </p:spPr>
      </p:sp>
      <p:sp>
        <p:nvSpPr>
          <p:cNvPr id="7" name="Shape 4"/>
          <p:cNvSpPr/>
          <p:nvPr/>
        </p:nvSpPr>
        <p:spPr>
          <a:xfrm>
            <a:off x="457200" y="1097280"/>
            <a:ext cx="73152" cy="1920240"/>
          </a:xfrm>
          <a:prstGeom prst="rect">
            <a:avLst/>
          </a:prstGeom>
          <a:solidFill>
            <a:srgbClr val="14213D"/>
          </a:solidFill>
          <a:ln/>
        </p:spPr>
      </p:sp>
      <p:sp>
        <p:nvSpPr>
          <p:cNvPr id="8" name="Text 5"/>
          <p:cNvSpPr txBox="1"/>
          <p:nvPr/>
        </p:nvSpPr>
        <p:spPr>
          <a:xfrm>
            <a:off x="685800" y="1188720"/>
            <a:ext cx="1600200" cy="36576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1  Gateway</a:t>
            </a:r>
            <a:endParaRPr lang="en-US" sz="1500" dirty="0"/>
          </a:p>
        </p:txBody>
      </p:sp>
      <p:sp>
        <p:nvSpPr>
          <p:cNvPr id="9" name="Text 6"/>
          <p:cNvSpPr txBox="1"/>
          <p:nvPr/>
        </p:nvSpPr>
        <p:spPr>
          <a:xfrm>
            <a:off x="685800" y="1554480"/>
            <a:ext cx="1600200" cy="137160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JWT, rate limit, Idempotency-Key</a:t>
            </a:r>
            <a:endParaRPr lang="en-US" sz="1250" dirty="0"/>
          </a:p>
        </p:txBody>
      </p:sp>
      <p:sp>
        <p:nvSpPr>
          <p:cNvPr id="10" name="Shape 7"/>
          <p:cNvSpPr/>
          <p:nvPr/>
        </p:nvSpPr>
        <p:spPr>
          <a:xfrm>
            <a:off x="2560320" y="1097280"/>
            <a:ext cx="1965960" cy="1920240"/>
          </a:xfrm>
          <a:prstGeom prst="rect">
            <a:avLst/>
          </a:prstGeom>
          <a:solidFill>
            <a:srgbClr val="FFFFFF"/>
          </a:solidFill>
          <a:ln w="12700">
            <a:solidFill>
              <a:srgbClr val="D8DEE9"/>
            </a:solidFill>
            <a:prstDash val="solid"/>
          </a:ln>
        </p:spPr>
      </p:sp>
      <p:sp>
        <p:nvSpPr>
          <p:cNvPr id="11" name="Shape 8"/>
          <p:cNvSpPr/>
          <p:nvPr/>
        </p:nvSpPr>
        <p:spPr>
          <a:xfrm>
            <a:off x="2560320" y="1097280"/>
            <a:ext cx="73152" cy="1920240"/>
          </a:xfrm>
          <a:prstGeom prst="rect">
            <a:avLst/>
          </a:prstGeom>
          <a:solidFill>
            <a:srgbClr val="14213D"/>
          </a:solidFill>
          <a:ln/>
        </p:spPr>
      </p:sp>
      <p:sp>
        <p:nvSpPr>
          <p:cNvPr id="12" name="Text 9"/>
          <p:cNvSpPr txBox="1"/>
          <p:nvPr/>
        </p:nvSpPr>
        <p:spPr>
          <a:xfrm>
            <a:off x="2788920" y="1188720"/>
            <a:ext cx="1600200" cy="36576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2  Redis</a:t>
            </a:r>
            <a:endParaRPr lang="en-US" sz="1500" dirty="0"/>
          </a:p>
        </p:txBody>
      </p:sp>
      <p:sp>
        <p:nvSpPr>
          <p:cNvPr id="13" name="Text 10"/>
          <p:cNvSpPr txBox="1"/>
          <p:nvPr/>
        </p:nvSpPr>
        <p:spPr>
          <a:xfrm>
            <a:off x="2788920" y="1554480"/>
            <a:ext cx="1600200" cy="137160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Idempotency hit returns stored result; atomic decrement admits only 100</a:t>
            </a:r>
            <a:endParaRPr lang="en-US" sz="1250" dirty="0"/>
          </a:p>
        </p:txBody>
      </p:sp>
      <p:sp>
        <p:nvSpPr>
          <p:cNvPr id="14" name="Shape 11"/>
          <p:cNvSpPr/>
          <p:nvPr/>
        </p:nvSpPr>
        <p:spPr>
          <a:xfrm>
            <a:off x="4663440" y="1097280"/>
            <a:ext cx="1965960" cy="1920240"/>
          </a:xfrm>
          <a:prstGeom prst="rect">
            <a:avLst/>
          </a:prstGeom>
          <a:solidFill>
            <a:srgbClr val="FFFFFF"/>
          </a:solidFill>
          <a:ln w="12700">
            <a:solidFill>
              <a:srgbClr val="D8DEE9"/>
            </a:solidFill>
            <a:prstDash val="solid"/>
          </a:ln>
        </p:spPr>
      </p:sp>
      <p:sp>
        <p:nvSpPr>
          <p:cNvPr id="15" name="Shape 12"/>
          <p:cNvSpPr/>
          <p:nvPr/>
        </p:nvSpPr>
        <p:spPr>
          <a:xfrm>
            <a:off x="4663440" y="1097280"/>
            <a:ext cx="73152" cy="1920240"/>
          </a:xfrm>
          <a:prstGeom prst="rect">
            <a:avLst/>
          </a:prstGeom>
          <a:solidFill>
            <a:srgbClr val="F28C28"/>
          </a:solidFill>
          <a:ln/>
        </p:spPr>
      </p:sp>
      <p:sp>
        <p:nvSpPr>
          <p:cNvPr id="16" name="Text 13"/>
          <p:cNvSpPr txBox="1"/>
          <p:nvPr/>
        </p:nvSpPr>
        <p:spPr>
          <a:xfrm>
            <a:off x="4892040" y="1188720"/>
            <a:ext cx="1600200" cy="36576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3  MySQL T1</a:t>
            </a:r>
            <a:endParaRPr lang="en-US" sz="1500" dirty="0"/>
          </a:p>
        </p:txBody>
      </p:sp>
      <p:sp>
        <p:nvSpPr>
          <p:cNvPr id="17" name="Text 14"/>
          <p:cNvSpPr txBox="1"/>
          <p:nvPr/>
        </p:nvSpPr>
        <p:spPr>
          <a:xfrm>
            <a:off x="4892040" y="1554480"/>
            <a:ext cx="1600200" cy="137160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Insert reservation + available-1/reserved+1 only if available&gt;0 + outbox</a:t>
            </a:r>
            <a:endParaRPr lang="en-US" sz="1250" dirty="0"/>
          </a:p>
        </p:txBody>
      </p:sp>
      <p:sp>
        <p:nvSpPr>
          <p:cNvPr id="18" name="Shape 15"/>
          <p:cNvSpPr/>
          <p:nvPr/>
        </p:nvSpPr>
        <p:spPr>
          <a:xfrm>
            <a:off x="6766560" y="1097280"/>
            <a:ext cx="1965960" cy="1920240"/>
          </a:xfrm>
          <a:prstGeom prst="rect">
            <a:avLst/>
          </a:prstGeom>
          <a:solidFill>
            <a:srgbClr val="FFFFFF"/>
          </a:solidFill>
          <a:ln w="12700">
            <a:solidFill>
              <a:srgbClr val="D8DEE9"/>
            </a:solidFill>
            <a:prstDash val="solid"/>
          </a:ln>
        </p:spPr>
      </p:sp>
      <p:sp>
        <p:nvSpPr>
          <p:cNvPr id="19" name="Shape 16"/>
          <p:cNvSpPr/>
          <p:nvPr/>
        </p:nvSpPr>
        <p:spPr>
          <a:xfrm>
            <a:off x="6766560" y="1097280"/>
            <a:ext cx="73152" cy="1920240"/>
          </a:xfrm>
          <a:prstGeom prst="rect">
            <a:avLst/>
          </a:prstGeom>
          <a:solidFill>
            <a:srgbClr val="14213D"/>
          </a:solidFill>
          <a:ln/>
        </p:spPr>
      </p:sp>
      <p:sp>
        <p:nvSpPr>
          <p:cNvPr id="20" name="Text 17"/>
          <p:cNvSpPr txBox="1"/>
          <p:nvPr/>
        </p:nvSpPr>
        <p:spPr>
          <a:xfrm>
            <a:off x="6995160" y="1188720"/>
            <a:ext cx="1600200" cy="36576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4  Respond</a:t>
            </a:r>
            <a:endParaRPr lang="en-US" sz="1500" dirty="0"/>
          </a:p>
        </p:txBody>
      </p:sp>
      <p:sp>
        <p:nvSpPr>
          <p:cNvPr id="21" name="Text 18"/>
          <p:cNvSpPr txBox="1"/>
          <p:nvPr/>
        </p:nvSpPr>
        <p:spPr>
          <a:xfrm>
            <a:off x="6995160" y="1554480"/>
            <a:ext cx="1600200" cy="137160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Reservation id + expiry (5 min)</a:t>
            </a:r>
            <a:endParaRPr lang="en-US" sz="1250" dirty="0"/>
          </a:p>
        </p:txBody>
      </p:sp>
      <p:sp>
        <p:nvSpPr>
          <p:cNvPr id="22" name="Text 19"/>
          <p:cNvSpPr txBox="1"/>
          <p:nvPr/>
        </p:nvSpPr>
        <p:spPr>
          <a:xfrm>
            <a:off x="457200" y="3246120"/>
            <a:ext cx="8229600" cy="15544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F2937"/>
                </a:solidFill>
                <a:latin typeface="Calibri" pitchFamily="34" charset="0"/>
                <a:ea typeface="Calibri" pitchFamily="34" charset="-122"/>
                <a:cs typeface="Calibri" pitchFamily="34" charset="-120"/>
              </a:rPr>
              <a:t>About 9,700 rejected in Redis in under 50 ms; DB sees about 100 writes.</a:t>
            </a:r>
            <a:endParaRPr lang="en-US" sz="1500" dirty="0"/>
          </a:p>
          <a:p>
            <a:pPr marL="342900" indent="-342900">
              <a:spcAft>
                <a:spcPts val="600"/>
              </a:spcAft>
              <a:buSzPct val="100000"/>
              <a:buChar char="•"/>
            </a:pPr>
            <a:r>
              <a:rPr lang="en-US" sz="1500" dirty="0">
                <a:solidFill>
                  <a:srgbClr val="1F2937"/>
                </a:solidFill>
                <a:latin typeface="Calibri" pitchFamily="34" charset="0"/>
                <a:ea typeface="Calibri" pitchFamily="34" charset="-122"/>
                <a:cs typeface="Calibri" pitchFamily="34" charset="-120"/>
              </a:rPr>
              <a:t>If Redis is wrong, the conditional update affects 0 rows, so no oversell.</a:t>
            </a:r>
            <a:endParaRPr lang="en-US" sz="1500" dirty="0"/>
          </a:p>
          <a:p>
            <a:pPr marL="342900" indent="-342900">
              <a:spcAft>
                <a:spcPts val="600"/>
              </a:spcAft>
              <a:buSzPct val="100000"/>
              <a:buChar char="•"/>
            </a:pPr>
            <a:r>
              <a:rPr lang="en-US" sz="1500" dirty="0">
                <a:solidFill>
                  <a:srgbClr val="1F2937"/>
                </a:solidFill>
                <a:latin typeface="Calibri" pitchFamily="34" charset="0"/>
                <a:ea typeface="Calibri" pitchFamily="34" charset="-122"/>
                <a:cs typeface="Calibri" pitchFamily="34" charset="-120"/>
              </a:rPr>
              <a:t>Duplicates (2%): same key returns same reservation; unique key in DB as backstop.</a:t>
            </a:r>
            <a:endParaRPr lang="en-US" sz="1500" dirty="0"/>
          </a:p>
          <a:p>
            <a:pPr marL="342900" indent="-342900">
              <a:spcAft>
                <a:spcPts val="600"/>
              </a:spcAft>
              <a:buSzPct val="100000"/>
              <a:buChar char="•"/>
            </a:pPr>
            <a:r>
              <a:rPr lang="en-US" sz="1500" dirty="0">
                <a:solidFill>
                  <a:srgbClr val="1F2937"/>
                </a:solidFill>
                <a:latin typeface="Calibri" pitchFamily="34" charset="0"/>
                <a:ea typeface="Calibri" pitchFamily="34" charset="-122"/>
                <a:cs typeface="Calibri" pitchFamily="34" charset="-120"/>
              </a:rPr>
              <a:t>Lifecycle: RESERVED, PAYMENT_PENDING, CONFIRMED, SOLD; failures go to RELEASED.</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4213D"/>
          </a:solidFill>
          <a:ln/>
        </p:spPr>
      </p:sp>
      <p:sp>
        <p:nvSpPr>
          <p:cNvPr id="3" name="Text 1"/>
          <p:cNvSpPr txBox="1"/>
          <p:nvPr/>
        </p:nvSpPr>
        <p:spPr>
          <a:xfrm>
            <a:off x="457200" y="109728"/>
            <a:ext cx="6949440" cy="603504"/>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Payment &amp; Order</a:t>
            </a:r>
            <a:endParaRPr lang="en-US" sz="2600" dirty="0"/>
          </a:p>
        </p:txBody>
      </p:sp>
      <p:sp>
        <p:nvSpPr>
          <p:cNvPr id="4" name="Text 2"/>
          <p:cNvSpPr txBox="1"/>
          <p:nvPr/>
        </p:nvSpPr>
        <p:spPr>
          <a:xfrm>
            <a:off x="7498080" y="109728"/>
            <a:ext cx="1280160" cy="603504"/>
          </a:xfrm>
          <a:prstGeom prst="rect">
            <a:avLst/>
          </a:prstGeom>
          <a:noFill/>
          <a:ln/>
        </p:spPr>
        <p:txBody>
          <a:bodyPr wrap="square" lIns="0" tIns="0" rIns="0" bIns="0" rtlCol="0" anchor="ctr"/>
          <a:lstStyle/>
          <a:p>
            <a:pPr algn="r" indent="0" marL="0">
              <a:buNone/>
            </a:pPr>
            <a:r>
              <a:rPr lang="en-US" sz="1400" b="1" dirty="0">
                <a:solidFill>
                  <a:srgbClr val="F28C28"/>
                </a:solidFill>
                <a:latin typeface="Calibri" pitchFamily="34" charset="0"/>
                <a:ea typeface="Calibri" pitchFamily="34" charset="-122"/>
                <a:cs typeface="Calibri" pitchFamily="34" charset="-120"/>
              </a:rPr>
              <a:t>45 sec</a:t>
            </a:r>
            <a:endParaRPr lang="en-US" sz="1400" dirty="0"/>
          </a:p>
        </p:txBody>
      </p:sp>
      <p:sp>
        <p:nvSpPr>
          <p:cNvPr id="6" name="Shape 3"/>
          <p:cNvSpPr/>
          <p:nvPr/>
        </p:nvSpPr>
        <p:spPr>
          <a:xfrm>
            <a:off x="457200" y="1097280"/>
            <a:ext cx="4023360" cy="1737360"/>
          </a:xfrm>
          <a:prstGeom prst="rect">
            <a:avLst/>
          </a:prstGeom>
          <a:solidFill>
            <a:srgbClr val="FFFFFF"/>
          </a:solidFill>
          <a:ln w="12700">
            <a:solidFill>
              <a:srgbClr val="D8DEE9"/>
            </a:solidFill>
            <a:prstDash val="solid"/>
          </a:ln>
        </p:spPr>
      </p:sp>
      <p:sp>
        <p:nvSpPr>
          <p:cNvPr id="7" name="Shape 4"/>
          <p:cNvSpPr/>
          <p:nvPr/>
        </p:nvSpPr>
        <p:spPr>
          <a:xfrm>
            <a:off x="457200" y="1097280"/>
            <a:ext cx="73152" cy="1737360"/>
          </a:xfrm>
          <a:prstGeom prst="rect">
            <a:avLst/>
          </a:prstGeom>
          <a:solidFill>
            <a:srgbClr val="14213D"/>
          </a:solidFill>
          <a:ln/>
        </p:spPr>
      </p:sp>
      <p:sp>
        <p:nvSpPr>
          <p:cNvPr id="8" name="Text 5"/>
          <p:cNvSpPr txBox="1"/>
          <p:nvPr/>
        </p:nvSpPr>
        <p:spPr>
          <a:xfrm>
            <a:off x="685800" y="1188720"/>
            <a:ext cx="3657600" cy="36576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Payment reliability</a:t>
            </a:r>
            <a:endParaRPr lang="en-US" sz="1500" dirty="0"/>
          </a:p>
        </p:txBody>
      </p:sp>
      <p:sp>
        <p:nvSpPr>
          <p:cNvPr id="9" name="Text 6"/>
          <p:cNvSpPr txBox="1"/>
          <p:nvPr/>
        </p:nvSpPr>
        <p:spPr>
          <a:xfrm>
            <a:off x="685800" y="1554480"/>
            <a:ext cx="3657600" cy="118872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Idempotency key + payment_id as gateway reference</a:t>
            </a:r>
            <a:endParaRPr lang="en-US" sz="1250" dirty="0"/>
          </a:p>
          <a:p>
            <a:pPr indent="0" marL="0">
              <a:buNone/>
            </a:pPr>
            <a:r>
              <a:rPr lang="en-US" sz="1250" dirty="0">
                <a:solidFill>
                  <a:srgbClr val="1F2937"/>
                </a:solidFill>
                <a:latin typeface="Calibri" pitchFamily="34" charset="0"/>
                <a:ea typeface="Calibri" pitchFamily="34" charset="-122"/>
                <a:cs typeface="Calibri" pitchFamily="34" charset="-120"/>
              </a:rPr>
              <a:t>3 s timeout, 3 retries (same id), circuit breaker at 50% of 10 calls</a:t>
            </a:r>
            <a:endParaRPr lang="en-US" sz="1250" dirty="0"/>
          </a:p>
          <a:p>
            <a:pPr indent="0" marL="0">
              <a:buNone/>
            </a:pPr>
            <a:r>
              <a:rPr lang="en-US" sz="1250" dirty="0">
                <a:solidFill>
                  <a:srgbClr val="1F2937"/>
                </a:solidFill>
                <a:latin typeface="Calibri" pitchFamily="34" charset="0"/>
                <a:ea typeface="Calibri" pitchFamily="34" charset="-122"/>
                <a:cs typeface="Calibri" pitchFamily="34" charset="-120"/>
              </a:rPr>
              <a:t>TIMEOUT = unknown: reconcile, never guess</a:t>
            </a:r>
            <a:endParaRPr lang="en-US" sz="1250" dirty="0"/>
          </a:p>
        </p:txBody>
      </p:sp>
      <p:sp>
        <p:nvSpPr>
          <p:cNvPr id="10" name="Shape 7"/>
          <p:cNvSpPr/>
          <p:nvPr/>
        </p:nvSpPr>
        <p:spPr>
          <a:xfrm>
            <a:off x="4663440" y="1097280"/>
            <a:ext cx="4023360" cy="1737360"/>
          </a:xfrm>
          <a:prstGeom prst="rect">
            <a:avLst/>
          </a:prstGeom>
          <a:solidFill>
            <a:srgbClr val="FFFFFF"/>
          </a:solidFill>
          <a:ln w="12700">
            <a:solidFill>
              <a:srgbClr val="D8DEE9"/>
            </a:solidFill>
            <a:prstDash val="solid"/>
          </a:ln>
        </p:spPr>
      </p:sp>
      <p:sp>
        <p:nvSpPr>
          <p:cNvPr id="11" name="Shape 8"/>
          <p:cNvSpPr/>
          <p:nvPr/>
        </p:nvSpPr>
        <p:spPr>
          <a:xfrm>
            <a:off x="4663440" y="1097280"/>
            <a:ext cx="73152" cy="1737360"/>
          </a:xfrm>
          <a:prstGeom prst="rect">
            <a:avLst/>
          </a:prstGeom>
          <a:solidFill>
            <a:srgbClr val="F28C28"/>
          </a:solidFill>
          <a:ln/>
        </p:spPr>
      </p:sp>
      <p:sp>
        <p:nvSpPr>
          <p:cNvPr id="12" name="Text 9"/>
          <p:cNvSpPr txBox="1"/>
          <p:nvPr/>
        </p:nvSpPr>
        <p:spPr>
          <a:xfrm>
            <a:off x="4892040" y="1188720"/>
            <a:ext cx="3657600" cy="36576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Outcomes</a:t>
            </a:r>
            <a:endParaRPr lang="en-US" sz="1500" dirty="0"/>
          </a:p>
        </p:txBody>
      </p:sp>
      <p:sp>
        <p:nvSpPr>
          <p:cNvPr id="13" name="Text 10"/>
          <p:cNvSpPr txBox="1"/>
          <p:nvPr/>
        </p:nvSpPr>
        <p:spPr>
          <a:xfrm>
            <a:off x="4892040" y="1554480"/>
            <a:ext cx="3657600" cy="118872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Success: CONFIRMED then SOLD</a:t>
            </a:r>
            <a:endParaRPr lang="en-US" sz="1250" dirty="0"/>
          </a:p>
          <a:p>
            <a:pPr indent="0" marL="0">
              <a:buNone/>
            </a:pPr>
            <a:r>
              <a:rPr lang="en-US" sz="1250" dirty="0">
                <a:solidFill>
                  <a:srgbClr val="1F2937"/>
                </a:solidFill>
                <a:latin typeface="Calibri" pitchFamily="34" charset="0"/>
                <a:ea typeface="Calibri" pitchFamily="34" charset="-122"/>
                <a:cs typeface="Calibri" pitchFamily="34" charset="-120"/>
              </a:rPr>
              <a:t>Decline: RELEASED, stock returns, order CANCELLED</a:t>
            </a:r>
            <a:endParaRPr lang="en-US" sz="1250" dirty="0"/>
          </a:p>
          <a:p>
            <a:pPr indent="0" marL="0">
              <a:buNone/>
            </a:pPr>
            <a:r>
              <a:rPr lang="en-US" sz="1250" dirty="0">
                <a:solidFill>
                  <a:srgbClr val="1F2937"/>
                </a:solidFill>
                <a:latin typeface="Calibri" pitchFamily="34" charset="0"/>
                <a:ea typeface="Calibri" pitchFamily="34" charset="-122"/>
                <a:cs typeface="Calibri" pitchFamily="34" charset="-120"/>
              </a:rPr>
              <a:t>Success after hold lost: re-reserve or refund</a:t>
            </a:r>
            <a:endParaRPr lang="en-US" sz="1250" dirty="0"/>
          </a:p>
        </p:txBody>
      </p:sp>
      <p:sp>
        <p:nvSpPr>
          <p:cNvPr id="14" name="Shape 11"/>
          <p:cNvSpPr/>
          <p:nvPr/>
        </p:nvSpPr>
        <p:spPr>
          <a:xfrm>
            <a:off x="457200" y="3017520"/>
            <a:ext cx="8229600" cy="1737360"/>
          </a:xfrm>
          <a:prstGeom prst="rect">
            <a:avLst/>
          </a:prstGeom>
          <a:solidFill>
            <a:srgbClr val="FFFFFF"/>
          </a:solidFill>
          <a:ln w="12700">
            <a:solidFill>
              <a:srgbClr val="D8DEE9"/>
            </a:solidFill>
            <a:prstDash val="solid"/>
          </a:ln>
        </p:spPr>
      </p:sp>
      <p:sp>
        <p:nvSpPr>
          <p:cNvPr id="15" name="Shape 12"/>
          <p:cNvSpPr/>
          <p:nvPr/>
        </p:nvSpPr>
        <p:spPr>
          <a:xfrm>
            <a:off x="457200" y="3017520"/>
            <a:ext cx="73152" cy="1737360"/>
          </a:xfrm>
          <a:prstGeom prst="rect">
            <a:avLst/>
          </a:prstGeom>
          <a:solidFill>
            <a:srgbClr val="6B7280"/>
          </a:solidFill>
          <a:ln/>
        </p:spPr>
      </p:sp>
      <p:sp>
        <p:nvSpPr>
          <p:cNvPr id="16" name="Text 13"/>
          <p:cNvSpPr txBox="1"/>
          <p:nvPr/>
        </p:nvSpPr>
        <p:spPr>
          <a:xfrm>
            <a:off x="685800" y="3108960"/>
            <a:ext cx="7863840" cy="36576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Payment success, Order Service down 30 s</a:t>
            </a:r>
            <a:endParaRPr lang="en-US" sz="1500" dirty="0"/>
          </a:p>
        </p:txBody>
      </p:sp>
      <p:sp>
        <p:nvSpPr>
          <p:cNvPr id="17" name="Text 14"/>
          <p:cNvSpPr txBox="1"/>
          <p:nvPr/>
        </p:nvSpPr>
        <p:spPr>
          <a:xfrm>
            <a:off x="685800" y="3474720"/>
            <a:ext cx="7863840" cy="118872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PaymentSucceeded is saved with the payment (outbox), so it cannot be lost. ConfirmOrder waits in Kafka and is processed after recovery (idempotent by payment_id). Saga watchdog resends after 60 s; order reconciler and compensation (refund + release) are last resorts. Order: CREATED, PAYMENT_PENDING, CONFIRMED, PROCESSING, SHIPPED, OUT_FOR_DELIVERY, DELIVERED.</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4213D"/>
          </a:solidFill>
          <a:ln/>
        </p:spPr>
      </p:sp>
      <p:sp>
        <p:nvSpPr>
          <p:cNvPr id="3" name="Text 1"/>
          <p:cNvSpPr txBox="1"/>
          <p:nvPr/>
        </p:nvSpPr>
        <p:spPr>
          <a:xfrm>
            <a:off x="457200" y="109728"/>
            <a:ext cx="6949440" cy="603504"/>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LLD, SOLID &amp; Patterns</a:t>
            </a:r>
            <a:endParaRPr lang="en-US" sz="2600" dirty="0"/>
          </a:p>
        </p:txBody>
      </p:sp>
      <p:sp>
        <p:nvSpPr>
          <p:cNvPr id="4" name="Text 2"/>
          <p:cNvSpPr txBox="1"/>
          <p:nvPr/>
        </p:nvSpPr>
        <p:spPr>
          <a:xfrm>
            <a:off x="7498080" y="109728"/>
            <a:ext cx="1280160" cy="603504"/>
          </a:xfrm>
          <a:prstGeom prst="rect">
            <a:avLst/>
          </a:prstGeom>
          <a:noFill/>
          <a:ln/>
        </p:spPr>
        <p:txBody>
          <a:bodyPr wrap="square" lIns="0" tIns="0" rIns="0" bIns="0" rtlCol="0" anchor="ctr"/>
          <a:lstStyle/>
          <a:p>
            <a:pPr algn="r" indent="0" marL="0">
              <a:buNone/>
            </a:pPr>
            <a:r>
              <a:rPr lang="en-US" sz="1400" b="1" dirty="0">
                <a:solidFill>
                  <a:srgbClr val="F28C28"/>
                </a:solidFill>
                <a:latin typeface="Calibri" pitchFamily="34" charset="0"/>
                <a:ea typeface="Calibri" pitchFamily="34" charset="-122"/>
                <a:cs typeface="Calibri" pitchFamily="34" charset="-120"/>
              </a:rPr>
              <a:t>45 sec</a:t>
            </a:r>
            <a:endParaRPr lang="en-US" sz="1400" dirty="0"/>
          </a:p>
        </p:txBody>
      </p:sp>
      <p:sp>
        <p:nvSpPr>
          <p:cNvPr id="6" name="Shape 3"/>
          <p:cNvSpPr/>
          <p:nvPr/>
        </p:nvSpPr>
        <p:spPr>
          <a:xfrm>
            <a:off x="457200" y="1097280"/>
            <a:ext cx="4023360" cy="3566160"/>
          </a:xfrm>
          <a:prstGeom prst="rect">
            <a:avLst/>
          </a:prstGeom>
          <a:solidFill>
            <a:srgbClr val="FFFFFF"/>
          </a:solidFill>
          <a:ln w="12700">
            <a:solidFill>
              <a:srgbClr val="D8DEE9"/>
            </a:solidFill>
            <a:prstDash val="solid"/>
          </a:ln>
        </p:spPr>
      </p:sp>
      <p:sp>
        <p:nvSpPr>
          <p:cNvPr id="7" name="Shape 4"/>
          <p:cNvSpPr/>
          <p:nvPr/>
        </p:nvSpPr>
        <p:spPr>
          <a:xfrm>
            <a:off x="457200" y="1097280"/>
            <a:ext cx="73152" cy="3566160"/>
          </a:xfrm>
          <a:prstGeom prst="rect">
            <a:avLst/>
          </a:prstGeom>
          <a:solidFill>
            <a:srgbClr val="14213D"/>
          </a:solidFill>
          <a:ln/>
        </p:spPr>
      </p:sp>
      <p:sp>
        <p:nvSpPr>
          <p:cNvPr id="8" name="Text 5"/>
          <p:cNvSpPr txBox="1"/>
          <p:nvPr/>
        </p:nvSpPr>
        <p:spPr>
          <a:xfrm>
            <a:off x="685800" y="1188720"/>
            <a:ext cx="3657600" cy="36576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SOLID in the payment module</a:t>
            </a:r>
            <a:endParaRPr lang="en-US" sz="1500" dirty="0"/>
          </a:p>
        </p:txBody>
      </p:sp>
      <p:sp>
        <p:nvSpPr>
          <p:cNvPr id="9" name="Text 6"/>
          <p:cNvSpPr txBox="1"/>
          <p:nvPr/>
        </p:nvSpPr>
        <p:spPr>
          <a:xfrm>
            <a:off x="685800" y="1554480"/>
            <a:ext cx="3657600" cy="301752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SRP: PaymentService, OrderService, NotificationListener are separate</a:t>
            </a:r>
            <a:endParaRPr lang="en-US" sz="1250" dirty="0"/>
          </a:p>
          <a:p>
            <a:pPr indent="0" marL="0">
              <a:buNone/>
            </a:pPr>
            <a:r>
              <a:rPr lang="en-US" sz="1250" dirty="0">
                <a:solidFill>
                  <a:srgbClr val="1F2937"/>
                </a:solidFill>
                <a:latin typeface="Calibri" pitchFamily="34" charset="0"/>
                <a:ea typeface="Calibri" pitchFamily="34" charset="-122"/>
                <a:cs typeface="Calibri" pitchFamily="34" charset="-120"/>
              </a:rPr>
              <a:t>OCP: new provider = new adapter, no change to PaymentService</a:t>
            </a:r>
            <a:endParaRPr lang="en-US" sz="1250" dirty="0"/>
          </a:p>
          <a:p>
            <a:pPr indent="0" marL="0">
              <a:buNone/>
            </a:pPr>
            <a:r>
              <a:rPr lang="en-US" sz="1250" dirty="0">
                <a:solidFill>
                  <a:srgbClr val="1F2937"/>
                </a:solidFill>
                <a:latin typeface="Calibri" pitchFamily="34" charset="0"/>
                <a:ea typeface="Calibri" pitchFamily="34" charset="-122"/>
                <a:cs typeface="Calibri" pitchFamily="34" charset="-120"/>
              </a:rPr>
              <a:t>LSP: shared contract tests (decline does not throw, timeout = UNKNOWN)</a:t>
            </a:r>
            <a:endParaRPr lang="en-US" sz="1250" dirty="0"/>
          </a:p>
          <a:p>
            <a:pPr indent="0" marL="0">
              <a:buNone/>
            </a:pPr>
            <a:r>
              <a:rPr lang="en-US" sz="1250" dirty="0">
                <a:solidFill>
                  <a:srgbClr val="1F2937"/>
                </a:solidFill>
                <a:latin typeface="Calibri" pitchFamily="34" charset="0"/>
                <a:ea typeface="Calibri" pitchFamily="34" charset="-122"/>
                <a:cs typeface="Calibri" pitchFamily="34" charset="-120"/>
              </a:rPr>
              <a:t>ISP: reconciler uses only PaymentStatusProvider</a:t>
            </a:r>
            <a:endParaRPr lang="en-US" sz="1250" dirty="0"/>
          </a:p>
          <a:p>
            <a:pPr indent="0" marL="0">
              <a:buNone/>
            </a:pPr>
            <a:r>
              <a:rPr lang="en-US" sz="1250" dirty="0">
                <a:solidFill>
                  <a:srgbClr val="1F2937"/>
                </a:solidFill>
                <a:latin typeface="Calibri" pitchFamily="34" charset="0"/>
                <a:ea typeface="Calibri" pitchFamily="34" charset="-122"/>
                <a:cs typeface="Calibri" pitchFamily="34" charset="-120"/>
              </a:rPr>
              <a:t>DIP: services depend on interfaces such as StockGate, PaymentGateway</a:t>
            </a:r>
            <a:endParaRPr lang="en-US" sz="1250" dirty="0"/>
          </a:p>
        </p:txBody>
      </p:sp>
      <p:sp>
        <p:nvSpPr>
          <p:cNvPr id="10" name="Shape 7"/>
          <p:cNvSpPr/>
          <p:nvPr/>
        </p:nvSpPr>
        <p:spPr>
          <a:xfrm>
            <a:off x="4663440" y="1097280"/>
            <a:ext cx="4023360" cy="3566160"/>
          </a:xfrm>
          <a:prstGeom prst="rect">
            <a:avLst/>
          </a:prstGeom>
          <a:solidFill>
            <a:srgbClr val="FFFFFF"/>
          </a:solidFill>
          <a:ln w="12700">
            <a:solidFill>
              <a:srgbClr val="D8DEE9"/>
            </a:solidFill>
            <a:prstDash val="solid"/>
          </a:ln>
        </p:spPr>
      </p:sp>
      <p:sp>
        <p:nvSpPr>
          <p:cNvPr id="11" name="Shape 8"/>
          <p:cNvSpPr/>
          <p:nvPr/>
        </p:nvSpPr>
        <p:spPr>
          <a:xfrm>
            <a:off x="4663440" y="1097280"/>
            <a:ext cx="73152" cy="3566160"/>
          </a:xfrm>
          <a:prstGeom prst="rect">
            <a:avLst/>
          </a:prstGeom>
          <a:solidFill>
            <a:srgbClr val="F28C28"/>
          </a:solidFill>
          <a:ln/>
        </p:spPr>
      </p:sp>
      <p:sp>
        <p:nvSpPr>
          <p:cNvPr id="12" name="Text 9"/>
          <p:cNvSpPr txBox="1"/>
          <p:nvPr/>
        </p:nvSpPr>
        <p:spPr>
          <a:xfrm>
            <a:off x="4892040" y="1188720"/>
            <a:ext cx="3657600" cy="36576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Patterns (problem solved)</a:t>
            </a:r>
            <a:endParaRPr lang="en-US" sz="1500" dirty="0"/>
          </a:p>
        </p:txBody>
      </p:sp>
      <p:sp>
        <p:nvSpPr>
          <p:cNvPr id="13" name="Text 10"/>
          <p:cNvSpPr txBox="1"/>
          <p:nvPr/>
        </p:nvSpPr>
        <p:spPr>
          <a:xfrm>
            <a:off x="4892040" y="1554480"/>
            <a:ext cx="3657600" cy="301752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Strategy: pricing and delivery rules change often</a:t>
            </a:r>
            <a:endParaRPr lang="en-US" sz="1250" dirty="0"/>
          </a:p>
          <a:p>
            <a:pPr indent="0" marL="0">
              <a:buNone/>
            </a:pPr>
            <a:r>
              <a:rPr lang="en-US" sz="1250" dirty="0">
                <a:solidFill>
                  <a:srgbClr val="1F2937"/>
                </a:solidFill>
                <a:latin typeface="Calibri" pitchFamily="34" charset="0"/>
                <a:ea typeface="Calibri" pitchFamily="34" charset="-122"/>
                <a:cs typeface="Calibri" pitchFamily="34" charset="-120"/>
              </a:rPr>
              <a:t>Factory + Adapter: hide provider details</a:t>
            </a:r>
            <a:endParaRPr lang="en-US" sz="1250" dirty="0"/>
          </a:p>
          <a:p>
            <a:pPr indent="0" marL="0">
              <a:buNone/>
            </a:pPr>
            <a:r>
              <a:rPr lang="en-US" sz="1250" dirty="0">
                <a:solidFill>
                  <a:srgbClr val="1F2937"/>
                </a:solidFill>
                <a:latin typeface="Calibri" pitchFamily="34" charset="0"/>
                <a:ea typeface="Calibri" pitchFamily="34" charset="-122"/>
                <a:cs typeface="Calibri" pitchFamily="34" charset="-120"/>
              </a:rPr>
              <a:t>State: legal reservation and order transitions in one place</a:t>
            </a:r>
            <a:endParaRPr lang="en-US" sz="1250" dirty="0"/>
          </a:p>
          <a:p>
            <a:pPr indent="0" marL="0">
              <a:buNone/>
            </a:pPr>
            <a:r>
              <a:rPr lang="en-US" sz="1250" dirty="0">
                <a:solidFill>
                  <a:srgbClr val="1F2937"/>
                </a:solidFill>
                <a:latin typeface="Calibri" pitchFamily="34" charset="0"/>
                <a:ea typeface="Calibri" pitchFamily="34" charset="-122"/>
                <a:cs typeface="Calibri" pitchFamily="34" charset="-120"/>
              </a:rPr>
              <a:t>Observer: order events trigger notification and shipment</a:t>
            </a:r>
            <a:endParaRPr lang="en-US" sz="1250" dirty="0"/>
          </a:p>
          <a:p>
            <a:pPr indent="0" marL="0">
              <a:buNone/>
            </a:pPr>
            <a:r>
              <a:rPr lang="en-US" sz="1250" dirty="0">
                <a:solidFill>
                  <a:srgbClr val="1F2937"/>
                </a:solidFill>
                <a:latin typeface="Calibri" pitchFamily="34" charset="0"/>
                <a:ea typeface="Calibri" pitchFamily="34" charset="-122"/>
                <a:cs typeface="Calibri" pitchFamily="34" charset="-120"/>
              </a:rPr>
              <a:t>Facade: CheckoutFacade keeps controllers simple</a:t>
            </a:r>
            <a:endParaRPr lang="en-US" sz="1250" dirty="0"/>
          </a:p>
          <a:p>
            <a:pPr indent="0" marL="0">
              <a:buNone/>
            </a:pPr>
            <a:r>
              <a:rPr lang="en-US" sz="1250" dirty="0">
                <a:solidFill>
                  <a:srgbClr val="1F2937"/>
                </a:solidFill>
                <a:latin typeface="Calibri" pitchFamily="34" charset="0"/>
                <a:ea typeface="Calibri" pitchFamily="34" charset="-122"/>
                <a:cs typeface="Calibri" pitchFamily="34" charset="-120"/>
              </a:rPr>
              <a:t>Repository, Circuit Breaker (decorator), Outbox, Saga</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4213D"/>
          </a:solidFill>
          <a:ln/>
        </p:spPr>
      </p:sp>
      <p:sp>
        <p:nvSpPr>
          <p:cNvPr id="3" name="Text 1"/>
          <p:cNvSpPr txBox="1"/>
          <p:nvPr/>
        </p:nvSpPr>
        <p:spPr>
          <a:xfrm>
            <a:off x="457200" y="109728"/>
            <a:ext cx="6949440" cy="603504"/>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Scale, Reliability &amp; AI Validation</a:t>
            </a:r>
            <a:endParaRPr lang="en-US" sz="2600" dirty="0"/>
          </a:p>
        </p:txBody>
      </p:sp>
      <p:sp>
        <p:nvSpPr>
          <p:cNvPr id="4" name="Text 2"/>
          <p:cNvSpPr txBox="1"/>
          <p:nvPr/>
        </p:nvSpPr>
        <p:spPr>
          <a:xfrm>
            <a:off x="7498080" y="109728"/>
            <a:ext cx="1280160" cy="603504"/>
          </a:xfrm>
          <a:prstGeom prst="rect">
            <a:avLst/>
          </a:prstGeom>
          <a:noFill/>
          <a:ln/>
        </p:spPr>
        <p:txBody>
          <a:bodyPr wrap="square" lIns="0" tIns="0" rIns="0" bIns="0" rtlCol="0" anchor="ctr"/>
          <a:lstStyle/>
          <a:p>
            <a:pPr algn="r" indent="0" marL="0">
              <a:buNone/>
            </a:pPr>
            <a:r>
              <a:rPr lang="en-US" sz="1400" b="1" dirty="0">
                <a:solidFill>
                  <a:srgbClr val="F28C28"/>
                </a:solidFill>
                <a:latin typeface="Calibri" pitchFamily="34" charset="0"/>
                <a:ea typeface="Calibri" pitchFamily="34" charset="-122"/>
                <a:cs typeface="Calibri" pitchFamily="34" charset="-120"/>
              </a:rPr>
              <a:t>30 sec</a:t>
            </a:r>
            <a:endParaRPr lang="en-US" sz="1400" dirty="0"/>
          </a:p>
        </p:txBody>
      </p:sp>
      <p:sp>
        <p:nvSpPr>
          <p:cNvPr id="6" name="Shape 3"/>
          <p:cNvSpPr/>
          <p:nvPr/>
        </p:nvSpPr>
        <p:spPr>
          <a:xfrm>
            <a:off x="457200" y="1097280"/>
            <a:ext cx="2651760" cy="2926080"/>
          </a:xfrm>
          <a:prstGeom prst="rect">
            <a:avLst/>
          </a:prstGeom>
          <a:solidFill>
            <a:srgbClr val="FFFFFF"/>
          </a:solidFill>
          <a:ln w="12700">
            <a:solidFill>
              <a:srgbClr val="D8DEE9"/>
            </a:solidFill>
            <a:prstDash val="solid"/>
          </a:ln>
        </p:spPr>
      </p:sp>
      <p:sp>
        <p:nvSpPr>
          <p:cNvPr id="7" name="Shape 4"/>
          <p:cNvSpPr/>
          <p:nvPr/>
        </p:nvSpPr>
        <p:spPr>
          <a:xfrm>
            <a:off x="457200" y="1097280"/>
            <a:ext cx="73152" cy="2926080"/>
          </a:xfrm>
          <a:prstGeom prst="rect">
            <a:avLst/>
          </a:prstGeom>
          <a:solidFill>
            <a:srgbClr val="14213D"/>
          </a:solidFill>
          <a:ln/>
        </p:spPr>
      </p:sp>
      <p:sp>
        <p:nvSpPr>
          <p:cNvPr id="8" name="Text 5"/>
          <p:cNvSpPr txBox="1"/>
          <p:nvPr/>
        </p:nvSpPr>
        <p:spPr>
          <a:xfrm>
            <a:off x="685800" y="1188720"/>
            <a:ext cx="2286000" cy="36576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50x traffic</a:t>
            </a:r>
            <a:endParaRPr lang="en-US" sz="1500" dirty="0"/>
          </a:p>
        </p:txBody>
      </p:sp>
      <p:sp>
        <p:nvSpPr>
          <p:cNvPr id="9" name="Text 6"/>
          <p:cNvSpPr txBox="1"/>
          <p:nvPr/>
        </p:nvSpPr>
        <p:spPr>
          <a:xfrm>
            <a:off x="685800" y="1554480"/>
            <a:ext cx="2286000" cy="237744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CDN caches 85% reads</a:t>
            </a:r>
            <a:endParaRPr lang="en-US" sz="1250" dirty="0"/>
          </a:p>
          <a:p>
            <a:pPr indent="0" marL="0">
              <a:buNone/>
            </a:pPr>
            <a:r>
              <a:rPr lang="en-US" sz="1250" dirty="0">
                <a:solidFill>
                  <a:srgbClr val="1F2937"/>
                </a:solidFill>
                <a:latin typeface="Calibri" pitchFamily="34" charset="0"/>
                <a:ea typeface="Calibri" pitchFamily="34" charset="-122"/>
                <a:cs typeface="Calibri" pitchFamily="34" charset="-120"/>
              </a:rPr>
              <a:t>Pre-scale gateway</a:t>
            </a:r>
            <a:endParaRPr lang="en-US" sz="1250" dirty="0"/>
          </a:p>
          <a:p>
            <a:pPr indent="0" marL="0">
              <a:buNone/>
            </a:pPr>
            <a:r>
              <a:rPr lang="en-US" sz="1250" dirty="0">
                <a:solidFill>
                  <a:srgbClr val="1F2937"/>
                </a:solidFill>
                <a:latin typeface="Calibri" pitchFamily="34" charset="0"/>
                <a:ea typeface="Calibri" pitchFamily="34" charset="-122"/>
                <a:cs typeface="Calibri" pitchFamily="34" charset="-120"/>
              </a:rPr>
              <a:t>Redis gate rejects fast</a:t>
            </a:r>
            <a:endParaRPr lang="en-US" sz="1250" dirty="0"/>
          </a:p>
          <a:p>
            <a:pPr indent="0" marL="0">
              <a:buNone/>
            </a:pPr>
            <a:r>
              <a:rPr lang="en-US" sz="1250" dirty="0">
                <a:solidFill>
                  <a:srgbClr val="1F2937"/>
                </a:solidFill>
                <a:latin typeface="Calibri" pitchFamily="34" charset="0"/>
                <a:ea typeface="Calibri" pitchFamily="34" charset="-122"/>
                <a:cs typeface="Calibri" pitchFamily="34" charset="-120"/>
              </a:rPr>
              <a:t>DB, payment, order load unchanged (about 100)</a:t>
            </a:r>
            <a:endParaRPr lang="en-US" sz="1250" dirty="0"/>
          </a:p>
        </p:txBody>
      </p:sp>
      <p:sp>
        <p:nvSpPr>
          <p:cNvPr id="10" name="Shape 7"/>
          <p:cNvSpPr/>
          <p:nvPr/>
        </p:nvSpPr>
        <p:spPr>
          <a:xfrm>
            <a:off x="3246120" y="1097280"/>
            <a:ext cx="2651760" cy="2926080"/>
          </a:xfrm>
          <a:prstGeom prst="rect">
            <a:avLst/>
          </a:prstGeom>
          <a:solidFill>
            <a:srgbClr val="FFFFFF"/>
          </a:solidFill>
          <a:ln w="12700">
            <a:solidFill>
              <a:srgbClr val="D8DEE9"/>
            </a:solidFill>
            <a:prstDash val="solid"/>
          </a:ln>
        </p:spPr>
      </p:sp>
      <p:sp>
        <p:nvSpPr>
          <p:cNvPr id="11" name="Shape 8"/>
          <p:cNvSpPr/>
          <p:nvPr/>
        </p:nvSpPr>
        <p:spPr>
          <a:xfrm>
            <a:off x="3246120" y="1097280"/>
            <a:ext cx="73152" cy="2926080"/>
          </a:xfrm>
          <a:prstGeom prst="rect">
            <a:avLst/>
          </a:prstGeom>
          <a:solidFill>
            <a:srgbClr val="F28C28"/>
          </a:solidFill>
          <a:ln/>
        </p:spPr>
      </p:sp>
      <p:sp>
        <p:nvSpPr>
          <p:cNvPr id="12" name="Text 9"/>
          <p:cNvSpPr txBox="1"/>
          <p:nvPr/>
        </p:nvSpPr>
        <p:spPr>
          <a:xfrm>
            <a:off x="3474720" y="1188720"/>
            <a:ext cx="2286000" cy="36576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Recovery</a:t>
            </a:r>
            <a:endParaRPr lang="en-US" sz="1500" dirty="0"/>
          </a:p>
        </p:txBody>
      </p:sp>
      <p:sp>
        <p:nvSpPr>
          <p:cNvPr id="13" name="Text 10"/>
          <p:cNvSpPr txBox="1"/>
          <p:nvPr/>
        </p:nvSpPr>
        <p:spPr>
          <a:xfrm>
            <a:off x="3474720" y="1554480"/>
            <a:ext cx="2286000" cy="237744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Redis down: fail closed, rebuild from MySQL</a:t>
            </a:r>
            <a:endParaRPr lang="en-US" sz="1250" dirty="0"/>
          </a:p>
          <a:p>
            <a:pPr indent="0" marL="0">
              <a:buNone/>
            </a:pPr>
            <a:r>
              <a:rPr lang="en-US" sz="1250" dirty="0">
                <a:solidFill>
                  <a:srgbClr val="1F2937"/>
                </a:solidFill>
                <a:latin typeface="Calibri" pitchFamily="34" charset="0"/>
                <a:ea typeface="Calibri" pitchFamily="34" charset="-122"/>
                <a:cs typeface="Calibri" pitchFamily="34" charset="-120"/>
              </a:rPr>
              <a:t>DB failover: retry with same key</a:t>
            </a:r>
            <a:endParaRPr lang="en-US" sz="1250" dirty="0"/>
          </a:p>
          <a:p>
            <a:pPr indent="0" marL="0">
              <a:buNone/>
            </a:pPr>
            <a:r>
              <a:rPr lang="en-US" sz="1250" dirty="0">
                <a:solidFill>
                  <a:srgbClr val="1F2937"/>
                </a:solidFill>
                <a:latin typeface="Calibri" pitchFamily="34" charset="0"/>
                <a:ea typeface="Calibri" pitchFamily="34" charset="-122"/>
                <a:cs typeface="Calibri" pitchFamily="34" charset="-120"/>
              </a:rPr>
              <a:t>Gateway down: breaker, keep reservation, reconcile</a:t>
            </a:r>
            <a:endParaRPr lang="en-US" sz="1250" dirty="0"/>
          </a:p>
          <a:p>
            <a:pPr indent="0" marL="0">
              <a:buNone/>
            </a:pPr>
            <a:r>
              <a:rPr lang="en-US" sz="1250" dirty="0">
                <a:solidFill>
                  <a:srgbClr val="1F2937"/>
                </a:solidFill>
                <a:latin typeface="Calibri" pitchFamily="34" charset="0"/>
                <a:ea typeface="Calibri" pitchFamily="34" charset="-122"/>
                <a:cs typeface="Calibri" pitchFamily="34" charset="-120"/>
              </a:rPr>
              <a:t>Kafka down: outbox keeps events</a:t>
            </a:r>
            <a:endParaRPr lang="en-US" sz="1250" dirty="0"/>
          </a:p>
        </p:txBody>
      </p:sp>
      <p:sp>
        <p:nvSpPr>
          <p:cNvPr id="14" name="Shape 11"/>
          <p:cNvSpPr/>
          <p:nvPr/>
        </p:nvSpPr>
        <p:spPr>
          <a:xfrm>
            <a:off x="6035040" y="1097280"/>
            <a:ext cx="2651760" cy="2926080"/>
          </a:xfrm>
          <a:prstGeom prst="rect">
            <a:avLst/>
          </a:prstGeom>
          <a:solidFill>
            <a:srgbClr val="FFFFFF"/>
          </a:solidFill>
          <a:ln w="12700">
            <a:solidFill>
              <a:srgbClr val="D8DEE9"/>
            </a:solidFill>
            <a:prstDash val="solid"/>
          </a:ln>
        </p:spPr>
      </p:sp>
      <p:sp>
        <p:nvSpPr>
          <p:cNvPr id="15" name="Shape 12"/>
          <p:cNvSpPr/>
          <p:nvPr/>
        </p:nvSpPr>
        <p:spPr>
          <a:xfrm>
            <a:off x="6035040" y="1097280"/>
            <a:ext cx="73152" cy="2926080"/>
          </a:xfrm>
          <a:prstGeom prst="rect">
            <a:avLst/>
          </a:prstGeom>
          <a:solidFill>
            <a:srgbClr val="6B7280"/>
          </a:solidFill>
          <a:ln/>
        </p:spPr>
      </p:sp>
      <p:sp>
        <p:nvSpPr>
          <p:cNvPr id="16" name="Text 13"/>
          <p:cNvSpPr txBox="1"/>
          <p:nvPr/>
        </p:nvSpPr>
        <p:spPr>
          <a:xfrm>
            <a:off x="6263640" y="1188720"/>
            <a:ext cx="2286000" cy="36576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Security and Ops</a:t>
            </a:r>
            <a:endParaRPr lang="en-US" sz="1500" dirty="0"/>
          </a:p>
        </p:txBody>
      </p:sp>
      <p:sp>
        <p:nvSpPr>
          <p:cNvPr id="17" name="Text 14"/>
          <p:cNvSpPr txBox="1"/>
          <p:nvPr/>
        </p:nvSpPr>
        <p:spPr>
          <a:xfrm>
            <a:off x="6263640" y="1554480"/>
            <a:ext cx="2286000" cy="237744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JWT + RBAC, rate limits, no card data stored</a:t>
            </a:r>
            <a:endParaRPr lang="en-US" sz="1250" dirty="0"/>
          </a:p>
          <a:p>
            <a:pPr indent="0" marL="0">
              <a:buNone/>
            </a:pPr>
            <a:r>
              <a:rPr lang="en-US" sz="1250" dirty="0">
                <a:solidFill>
                  <a:srgbClr val="1F2937"/>
                </a:solidFill>
                <a:latin typeface="Calibri" pitchFamily="34" charset="0"/>
                <a:ea typeface="Calibri" pitchFamily="34" charset="-122"/>
                <a:cs typeface="Calibri" pitchFamily="34" charset="-120"/>
              </a:rPr>
              <a:t>Trace id across services</a:t>
            </a:r>
            <a:endParaRPr lang="en-US" sz="1250" dirty="0"/>
          </a:p>
          <a:p>
            <a:pPr indent="0" marL="0">
              <a:buNone/>
            </a:pPr>
            <a:r>
              <a:rPr lang="en-US" sz="1250" dirty="0">
                <a:solidFill>
                  <a:srgbClr val="1F2937"/>
                </a:solidFill>
                <a:latin typeface="Calibri" pitchFamily="34" charset="0"/>
                <a:ea typeface="Calibri" pitchFamily="34" charset="-122"/>
                <a:cs typeface="Calibri" pitchFamily="34" charset="-120"/>
              </a:rPr>
              <a:t>Alerts: inventory drift, payment spike, queue lag, paid-without-order</a:t>
            </a:r>
            <a:endParaRPr lang="en-US" sz="1250" dirty="0"/>
          </a:p>
        </p:txBody>
      </p:sp>
      <p:sp>
        <p:nvSpPr>
          <p:cNvPr id="18" name="Text 15"/>
          <p:cNvSpPr txBox="1"/>
          <p:nvPr/>
        </p:nvSpPr>
        <p:spPr>
          <a:xfrm>
            <a:off x="457200" y="4251960"/>
            <a:ext cx="8229600" cy="54864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AI use: Claude for documentation drafting only (see AI usage note). Design, concurrency and payment decisions were made and defended by the team.</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SALESTORM - 5 Minute Pitch</dc:title>
  <dc:subject>PptxGenJS Presentation</dc:subject>
  <dc:creator>PptxGenJS</dc:creator>
  <cp:lastModifiedBy>PptxGenJS</cp:lastModifiedBy>
  <cp:revision>1</cp:revision>
  <dcterms:created xsi:type="dcterms:W3CDTF">2026-10-05T07:12:28Z</dcterms:created>
  <dcterms:modified xsi:type="dcterms:W3CDTF">2026-10-05T07:12:28Z</dcterms:modified>
</cp:coreProperties>
</file>